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029200"/>
            <a:ext cx="2377440" cy="2377440"/>
          </a:xfrm>
          <a:prstGeom prst="ellipse">
            <a:avLst/>
          </a:prstGeom>
          <a:solidFill>
            <a:srgbClr val="232C5C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-1280160"/>
            <a:ext cx="2926080" cy="29260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5" name="Image 0" descr="/sessions/stoic-practical-brahmagupta/mnt/outputs/pptx_build/assurex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943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 · ASSUREX · DOSSIER TECHNIQUE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084832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IA pour l'Assurance Auto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1272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intelligent, moteur de faute déterministe et estimation de dommages par IA — marché tunisien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97764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A3470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9776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88336" y="3977640"/>
            <a:ext cx="1764792" cy="384048"/>
          </a:xfrm>
          <a:prstGeom prst="roundRect">
            <a:avLst>
              <a:gd name="adj" fmla="val 19048"/>
            </a:avLst>
          </a:prstGeom>
          <a:solidFill>
            <a:srgbClr val="2A347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397764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l'IA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54296" y="3977640"/>
            <a:ext cx="1563624" cy="384048"/>
          </a:xfrm>
          <a:prstGeom prst="roundRect">
            <a:avLst>
              <a:gd name="adj" fmla="val 19048"/>
            </a:avLst>
          </a:prstGeom>
          <a:solidFill>
            <a:srgbClr val="2A3470"/>
          </a:solidFill>
          <a:ln/>
        </p:spPr>
      </p:sp>
      <p:sp>
        <p:nvSpPr>
          <p:cNvPr id="14" name="Text 11"/>
          <p:cNvSpPr/>
          <p:nvPr/>
        </p:nvSpPr>
        <p:spPr>
          <a:xfrm>
            <a:off x="4654296" y="397764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19088" y="39776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2A3470"/>
          </a:solidFill>
          <a:ln/>
        </p:spPr>
      </p:sp>
      <p:sp>
        <p:nvSpPr>
          <p:cNvPr id="16" name="Text 13"/>
          <p:cNvSpPr/>
          <p:nvPr/>
        </p:nvSpPr>
        <p:spPr>
          <a:xfrm>
            <a:off x="6419088" y="3977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techniques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5029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22960" y="5321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Amine Hechmi   ·   Saoussen Mannai   ·   Ahmed Weslati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finale · Volet technique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des composants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backends indépendants, une seule base de données Postgres partagée — un schéma par service, une seule source de vérité.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76109" y="1783080"/>
            <a:ext cx="6836735" cy="4023360"/>
          </a:xfrm>
          <a:prstGeom prst="roundRect">
            <a:avLst>
              <a:gd name="adj" fmla="val 2273"/>
            </a:avLst>
          </a:prstGeom>
          <a:solidFill>
            <a:srgbClr val="F4F7FE"/>
          </a:solidFill>
          <a:ln w="12700">
            <a:solidFill>
              <a:srgbClr val="DCE3F7"/>
            </a:solidFill>
            <a:prstDash val="solid"/>
          </a:ln>
        </p:spPr>
      </p:sp>
      <p:pic>
        <p:nvPicPr>
          <p:cNvPr id="6" name="Image 0" descr="/sessions/stoic-practical-brahmagupta/mnt/outputs/pptx_build/architecture-merma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4709" y="1965960"/>
            <a:ext cx="6379535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0167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4F7FE"/>
          </a:solidFill>
          <a:ln w="9525">
            <a:solidFill>
              <a:srgbClr val="B9C6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980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304288" y="60167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2578608" y="5980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FastAPI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51376" y="60167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4A5580"/>
          </a:solidFill>
          <a:ln/>
        </p:spPr>
      </p:sp>
      <p:sp>
        <p:nvSpPr>
          <p:cNvPr id="12" name="Text 9"/>
          <p:cNvSpPr/>
          <p:nvPr/>
        </p:nvSpPr>
        <p:spPr>
          <a:xfrm>
            <a:off x="4425696" y="5980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Celery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98464" y="60167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E1338"/>
          </a:solidFill>
          <a:ln/>
        </p:spPr>
      </p:sp>
      <p:sp>
        <p:nvSpPr>
          <p:cNvPr id="14" name="Text 11"/>
          <p:cNvSpPr/>
          <p:nvPr/>
        </p:nvSpPr>
        <p:spPr>
          <a:xfrm>
            <a:off x="6272784" y="5980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/ infra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845552" y="60167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8119872" y="5980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(Gemini)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692640" y="60167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9A826"/>
          </a:solidFill>
          <a:ln/>
        </p:spPr>
      </p:sp>
      <p:sp>
        <p:nvSpPr>
          <p:cNvPr id="18" name="Text 15"/>
          <p:cNvSpPr/>
          <p:nvPr/>
        </p:nvSpPr>
        <p:spPr>
          <a:xfrm>
            <a:off x="9966960" y="5980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règles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Assurance Auto — Dossier technique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 de données — deux parcours clés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1 — Déclaration conversationnelle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29184" cy="329184"/>
          </a:xfrm>
          <a:prstGeom prst="ellipse">
            <a:avLst/>
          </a:prstGeom>
          <a:solidFill>
            <a:srgbClr val="F4F7F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8" dirty="0"/>
          </a:p>
        </p:txBody>
      </p:sp>
      <p:sp>
        <p:nvSpPr>
          <p:cNvPr id="8" name="Text 6"/>
          <p:cNvSpPr/>
          <p:nvPr/>
        </p:nvSpPr>
        <p:spPr>
          <a:xfrm>
            <a:off x="960120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écrit dans la bulle de chat (Flutter)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7512" y="2295144"/>
            <a:ext cx="0" cy="457200"/>
          </a:xfrm>
          <a:prstGeom prst="line">
            <a:avLst/>
          </a:prstGeom>
          <a:noFill/>
          <a:ln w="15875">
            <a:solidFill>
              <a:srgbClr val="C7CFE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02920" y="2752344"/>
            <a:ext cx="329184" cy="329184"/>
          </a:xfrm>
          <a:prstGeom prst="ellipse">
            <a:avLst/>
          </a:prstGeom>
          <a:solidFill>
            <a:srgbClr val="F4F7F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8" dirty="0"/>
          </a:p>
        </p:txBody>
      </p:sp>
      <p:sp>
        <p:nvSpPr>
          <p:cNvPr id="12" name="Text 10"/>
          <p:cNvSpPr/>
          <p:nvPr/>
        </p:nvSpPr>
        <p:spPr>
          <a:xfrm>
            <a:off x="960120" y="273405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/chat/message → boucle tool-use LLM (Gemini)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7512" y="3081528"/>
            <a:ext cx="0" cy="457200"/>
          </a:xfrm>
          <a:prstGeom prst="line">
            <a:avLst/>
          </a:prstGeom>
          <a:noFill/>
          <a:ln w="15875">
            <a:solidFill>
              <a:srgbClr val="C7CFE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02920" y="3538728"/>
            <a:ext cx="329184" cy="329184"/>
          </a:xfrm>
          <a:prstGeom prst="ellipse">
            <a:avLst/>
          </a:prstGeom>
          <a:solidFill>
            <a:srgbClr val="F4F7F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8" dirty="0"/>
          </a:p>
        </p:txBody>
      </p:sp>
      <p:sp>
        <p:nvSpPr>
          <p:cNvPr id="16" name="Text 14"/>
          <p:cNvSpPr/>
          <p:nvPr/>
        </p:nvSpPr>
        <p:spPr>
          <a:xfrm>
            <a:off x="960120" y="35204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LLM appelle des tools : record_vehicle, geocode…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7512" y="3867912"/>
            <a:ext cx="0" cy="457200"/>
          </a:xfrm>
          <a:prstGeom prst="line">
            <a:avLst/>
          </a:prstGeom>
          <a:noFill/>
          <a:ln w="15875">
            <a:solidFill>
              <a:srgbClr val="C7CFE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02920" y="4325112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325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8" dirty="0"/>
          </a:p>
        </p:txBody>
      </p:sp>
      <p:sp>
        <p:nvSpPr>
          <p:cNvPr id="20" name="Text 18"/>
          <p:cNvSpPr/>
          <p:nvPr/>
        </p:nvSpPr>
        <p:spPr>
          <a:xfrm>
            <a:off x="960120" y="430682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fault_engine.py applique les règles FTUSA (déterministe)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7512" y="4654296"/>
            <a:ext cx="0" cy="457200"/>
          </a:xfrm>
          <a:prstGeom prst="line">
            <a:avLst/>
          </a:prstGeom>
          <a:noFill/>
          <a:ln w="15875">
            <a:solidFill>
              <a:srgbClr val="C7CFE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02920" y="5111496"/>
            <a:ext cx="329184" cy="329184"/>
          </a:xfrm>
          <a:prstGeom prst="ellipse">
            <a:avLst/>
          </a:prstGeom>
          <a:solidFill>
            <a:srgbClr val="F4F7F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8" dirty="0"/>
          </a:p>
        </p:txBody>
      </p:sp>
      <p:sp>
        <p:nvSpPr>
          <p:cNvPr id="24" name="Text 22"/>
          <p:cNvSpPr/>
          <p:nvPr/>
        </p:nvSpPr>
        <p:spPr>
          <a:xfrm>
            <a:off x="960120" y="50932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du constat PDF pré-rempli + retour au client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1417320"/>
            <a:ext cx="54864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1417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2 — Photo → estimation de dommages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1965960"/>
            <a:ext cx="329184" cy="329184"/>
          </a:xfrm>
          <a:prstGeom prst="ellipse">
            <a:avLst/>
          </a:prstGeom>
          <a:solidFill>
            <a:srgbClr val="F4F7FE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8" dirty="0"/>
          </a:p>
        </p:txBody>
      </p:sp>
      <p:sp>
        <p:nvSpPr>
          <p:cNvPr id="29" name="Text 27"/>
          <p:cNvSpPr/>
          <p:nvPr/>
        </p:nvSpPr>
        <p:spPr>
          <a:xfrm>
            <a:off x="6766560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 → POST /claims/{id}/photos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73952" y="2295144"/>
            <a:ext cx="0" cy="457200"/>
          </a:xfrm>
          <a:prstGeom prst="line">
            <a:avLst/>
          </a:prstGeom>
          <a:noFill/>
          <a:ln w="15875">
            <a:solidFill>
              <a:srgbClr val="C7CFEA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309360" y="2752344"/>
            <a:ext cx="329184" cy="329184"/>
          </a:xfrm>
          <a:prstGeom prst="ellipse">
            <a:avLst/>
          </a:prstGeom>
          <a:solidFill>
            <a:srgbClr val="F4F7FE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8" dirty="0"/>
          </a:p>
        </p:txBody>
      </p:sp>
      <p:sp>
        <p:nvSpPr>
          <p:cNvPr id="33" name="Text 31"/>
          <p:cNvSpPr/>
          <p:nvPr/>
        </p:nvSpPr>
        <p:spPr>
          <a:xfrm>
            <a:off x="6766560" y="273405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MinIO + métadonnées EXIF/forensiques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73952" y="3081528"/>
            <a:ext cx="0" cy="457200"/>
          </a:xfrm>
          <a:prstGeom prst="line">
            <a:avLst/>
          </a:prstGeom>
          <a:noFill/>
          <a:ln w="15875">
            <a:solidFill>
              <a:srgbClr val="C7CFEA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309360" y="3538728"/>
            <a:ext cx="329184" cy="329184"/>
          </a:xfrm>
          <a:prstGeom prst="ellipse">
            <a:avLst/>
          </a:prstGeom>
          <a:solidFill>
            <a:srgbClr val="F4F7FE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8" dirty="0"/>
          </a:p>
        </p:txBody>
      </p:sp>
      <p:sp>
        <p:nvSpPr>
          <p:cNvPr id="37" name="Text 35"/>
          <p:cNvSpPr/>
          <p:nvPr/>
        </p:nvSpPr>
        <p:spPr>
          <a:xfrm>
            <a:off x="6766560" y="35204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 Celery asynchrone run_damage_assessment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73952" y="3867912"/>
            <a:ext cx="0" cy="457200"/>
          </a:xfrm>
          <a:prstGeom prst="line">
            <a:avLst/>
          </a:prstGeom>
          <a:noFill/>
          <a:ln w="15875">
            <a:solidFill>
              <a:srgbClr val="C7CFEA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309360" y="4325112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4325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8" dirty="0"/>
          </a:p>
        </p:txBody>
      </p:sp>
      <p:sp>
        <p:nvSpPr>
          <p:cNvPr id="41" name="Text 39"/>
          <p:cNvSpPr/>
          <p:nvPr/>
        </p:nvSpPr>
        <p:spPr>
          <a:xfrm>
            <a:off x="6766560" y="430682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(8 classes de dommage) ou repli OpenCV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73952" y="4654296"/>
            <a:ext cx="0" cy="457200"/>
          </a:xfrm>
          <a:prstGeom prst="line">
            <a:avLst/>
          </a:prstGeom>
          <a:noFill/>
          <a:ln w="15875">
            <a:solidFill>
              <a:srgbClr val="C7CFEA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309360" y="5111496"/>
            <a:ext cx="329184" cy="329184"/>
          </a:xfrm>
          <a:prstGeom prst="ellipse">
            <a:avLst/>
          </a:prstGeom>
          <a:solidFill>
            <a:srgbClr val="F4F7FE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8" dirty="0"/>
          </a:p>
        </p:txBody>
      </p:sp>
      <p:sp>
        <p:nvSpPr>
          <p:cNvPr id="45" name="Text 43"/>
          <p:cNvSpPr/>
          <p:nvPr/>
        </p:nvSpPr>
        <p:spPr>
          <a:xfrm>
            <a:off x="6766560" y="50932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réparation estimé (DT) + DamageEstimate en DB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57200" y="5806440"/>
            <a:ext cx="11292840" cy="566928"/>
          </a:xfrm>
          <a:prstGeom prst="roundRect">
            <a:avLst>
              <a:gd name="adj" fmla="val 12903"/>
            </a:avLst>
          </a:prstGeom>
          <a:solidFill>
            <a:srgbClr val="EAF9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58064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stricte : le LLM converse et collecte des données — jamais il ne décide de la responsabilité. Le verdict de faute vient uniquement du moteur de règles déterministe.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Assurance Auto — Dossier technique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L'IA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modèles, deux rôles bien séparés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générative gère la conversation ; l'IA n'a jamais le dernier mot sur une décision juridique ou financière.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222C6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conversationnel — Gemini 3.5 Flash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3081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du constat en Derja/français, tool-calling (record_vehicle, geocode…)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modèle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3721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OpenAI-compatible → interchangeable (Mistral, Groq, Ollama local) sans réécrire le code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"Flash"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3616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latence + faible coût, suffisant pour de la collecte structurée guidée par des tools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4754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5001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Derja (arabe/arabizi), français, repli anglais — critère clé pour le marché tunisien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5394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56418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"Leçons apprises" injectées au prompt après correction — pas de fine-tuning, 100% traçable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87452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222C63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2148840"/>
            <a:ext cx="502920" cy="50292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7223760" y="2148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Moteur de faute + vision par ordinateur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28346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Faute = règles, pas IA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37960" y="3081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FTUSA/IDA exige une décision fondée uniquement sur direction/position/point de choc — pas d'inférence probabiliste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37960" y="34747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règles symétriques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37960" y="3721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17 circonstances normalisées, chaque cas non couvert est marqué needs_manual_review (jamais un 50/50 arbitraire)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41148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Dommages — YOLOv8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37960" y="43616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classes (pare-choc, portière, pare-brise…) alignées sur les datasets publics Roboflow / HuggingFace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37960" y="4754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 honnête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37960" y="5001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poids entraînés : heuristique OpenCV (densité de contours) — confiance réduite mais résultat réel, jamais une valeur inventée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37960" y="5394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37960" y="56418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Barème DT ancré sur des tarifs carrosserie tunisiens publiés, pondéré par gamme du véhicule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Assurance Auto — Dossier technique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API, base de données &amp; hébergement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principaux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19072"/>
          <a:ext cx="6309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2103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/chat/message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agent (tool-use LLM)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/claims/{id}/determine-fault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moteur déterministe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/claims/{id}/photos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→ worker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+ file dommages (Celery)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/api/v1/auth/register|login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mobile-api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JWT app mobile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/dashboard/stats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assurex-api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 portail agence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776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— Docker Compose (8 services)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4343400"/>
            <a:ext cx="6309360" cy="384048"/>
          </a:xfrm>
          <a:prstGeom prst="roundRect">
            <a:avLst>
              <a:gd name="adj" fmla="val 14286"/>
            </a:avLst>
          </a:prstGeom>
          <a:solidFill>
            <a:srgbClr val="F4F7FE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3434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(Postgres 16) · redis 7 · minio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4800600"/>
            <a:ext cx="6309360" cy="384048"/>
          </a:xfrm>
          <a:prstGeom prst="roundRect">
            <a:avLst>
              <a:gd name="adj" fmla="val 14286"/>
            </a:avLst>
          </a:prstGeom>
          <a:solidFill>
            <a:srgbClr val="F4F7FE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8006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:8010  ·  worker (Celery)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5257800"/>
            <a:ext cx="6309360" cy="384048"/>
          </a:xfrm>
          <a:prstGeom prst="roundRect">
            <a:avLst>
              <a:gd name="adj" fmla="val 14286"/>
            </a:avLst>
          </a:prstGeom>
          <a:solidFill>
            <a:srgbClr val="F4F7FE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52578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mobile-api :8001  ·  assurex-api :8000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5715000"/>
            <a:ext cx="6309360" cy="384048"/>
          </a:xfrm>
          <a:prstGeom prst="roundRect">
            <a:avLst>
              <a:gd name="adj" fmla="val 14286"/>
            </a:avLst>
          </a:prstGeom>
          <a:solidFill>
            <a:srgbClr val="F4F7FE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57150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assurex-frontend :5173 (Vite/React)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086600" y="1371600"/>
            <a:ext cx="4663440" cy="26517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1481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15200" y="1901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 instance Postgres, 3 schémas (public / mobile / assurex)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15200" y="24323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Migrations Alembic (mobile-api) — évite le drift de schéma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315200" y="29626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SQLAlchemy ORM partagé entre assistant/ et platform/backend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315200" y="3493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Photos → objet MinIO (S3) référencé par URL, pas en base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086600" y="4206240"/>
            <a:ext cx="4663440" cy="1645920"/>
          </a:xfrm>
          <a:prstGeom prst="roundRect">
            <a:avLst>
              <a:gd name="adj" fmla="val 5556"/>
            </a:avLst>
          </a:prstGeom>
          <a:solidFill>
            <a:srgbClr val="EAF9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43159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d'intégration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15200" y="46817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LLM derrière un endpoint OpenAI-compatible → fournisseur interchangeable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315200" y="50657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CORS ouvert, secrets en .env : à durcir avant la prod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315200" y="54498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 seul point d'entrée pour l'agent : POST /chat/message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Assurance Auto — Dossier technique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en est la mesure aujourd'hui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réels du dépôt (tests exécutés, règles codées) et cibles d'ingénierie assumées comme telles — pas de benchmark inventé.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7F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57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990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produits, moteur de faute — exécutés sans réseau ni clé API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19272" y="19659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7FE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2057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56432" y="26974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faute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56432" y="2990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appliquées symétriquement sur 17 circonstances × 8 zones d'impact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81344" y="19659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7FE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344" y="2057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318504" y="26974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du verdict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18504" y="2990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décision cite le rule_id qui a matché — zéro boîte noire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043416" y="19659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7FE"/>
          </a:solidFill>
          <a:ln/>
        </p:spPr>
      </p:sp>
      <p:sp>
        <p:nvSpPr>
          <p:cNvPr id="18" name="Text 16"/>
          <p:cNvSpPr/>
          <p:nvPr/>
        </p:nvSpPr>
        <p:spPr>
          <a:xfrm>
            <a:off x="9043416" y="2057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55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80576" y="26974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orchestrés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80576" y="2990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: 3 API, 1 worker, Postgres, Redis, MinIO, frontend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931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réponse — cibles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315968"/>
          <a:ext cx="507492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2194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Moteur de faute (règles)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ms — calcul en mémoire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 de chat LLM (Gemini Flash)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~1-3 s — dépend du fournisseur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 dommages (fallback CV)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s / photo (heuristique OpenCV)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 dommages (YOLOv8 réel)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asynchrone via Celery, hors du tour de chat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217920" y="37947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</p:spPr>
      </p:sp>
      <p:sp>
        <p:nvSpPr>
          <p:cNvPr id="25" name="Text 22"/>
          <p:cNvSpPr/>
          <p:nvPr/>
        </p:nvSpPr>
        <p:spPr>
          <a:xfrm>
            <a:off x="6446520" y="3931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&amp; précision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446520" y="431596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Traitement lourd (CV) découplé du tour de chat via la file Celery/Redis → l'API reste réactive sous charge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446520" y="473659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backends stateless, scalables horizontalement ; schéma par service évite tout couplage en base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46520" y="515721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Précision du verdict : déterministe et 100% reproductible tant que le barème FTUSA officiel est chargé (barème actuel = placeholder documenté, à remplacer avant mise en prod)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46520" y="557784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Précision CV : dépend du checkpoint YOLOv8 entraîné — non encore mesurée sur données réelles (repli heuristique en attendant)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Assurance Auto — Dossier technique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BUSINESS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rapide, plus sûr, plus juste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l'architecture apporte concrètement à l'assuré et à l'assureur — des mécanismes déjà codés, pas des promesses marketing.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04825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8" name="Text 6"/>
          <p:cNvSpPr/>
          <p:nvPr/>
        </p:nvSpPr>
        <p:spPr>
          <a:xfrm>
            <a:off x="658368" y="25054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en minutes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conversationnel multilingue 24/7 remplace le formulaire papier et l'attente en agence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9272" y="187452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/>
        </p:spPr>
      </p:sp>
      <p:sp>
        <p:nvSpPr>
          <p:cNvPr id="11" name="Shape 9"/>
          <p:cNvSpPr/>
          <p:nvPr/>
        </p:nvSpPr>
        <p:spPr>
          <a:xfrm>
            <a:off x="3520440" y="2048256"/>
            <a:ext cx="384048" cy="384048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13" name="Text 11"/>
          <p:cNvSpPr/>
          <p:nvPr/>
        </p:nvSpPr>
        <p:spPr>
          <a:xfrm>
            <a:off x="3520440" y="25054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Anti-fraude intégré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perceptuel sur chaque photo MinIO : détecte les images dupliquées/réutilisées avant tout examen humain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187452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382512" y="2048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18" name="Text 16"/>
          <p:cNvSpPr/>
          <p:nvPr/>
        </p:nvSpPr>
        <p:spPr>
          <a:xfrm>
            <a:off x="6382512" y="25054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transparent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512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règles auditable : chaque pourcentage de faute cite le rule_id qui l'a produit — moins de contestations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43416" y="187452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/>
        </p:spPr>
      </p:sp>
      <p:sp>
        <p:nvSpPr>
          <p:cNvPr id="21" name="Shape 19"/>
          <p:cNvSpPr/>
          <p:nvPr/>
        </p:nvSpPr>
        <p:spPr>
          <a:xfrm>
            <a:off x="9244584" y="2048256"/>
            <a:ext cx="384048" cy="384048"/>
          </a:xfrm>
          <a:prstGeom prst="ellipse">
            <a:avLst/>
          </a:prstGeom>
          <a:solidFill>
            <a:srgbClr val="4A5580"/>
          </a:solidFill>
          <a:ln/>
        </p:spPr>
      </p:sp>
      <p:sp>
        <p:nvSpPr>
          <p:cNvPr id="22" name="Text 20"/>
          <p:cNvSpPr/>
          <p:nvPr/>
        </p:nvSpPr>
        <p:spPr>
          <a:xfrm>
            <a:off x="9244584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23" name="Text 21"/>
          <p:cNvSpPr/>
          <p:nvPr/>
        </p:nvSpPr>
        <p:spPr>
          <a:xfrm>
            <a:off x="9244584" y="25054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pilotée par les données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44584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AssureX centralise sinistres et KPIs, sans ressaisie entre systèmes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EAF9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9502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l'assuré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43708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Zéro paperasse : constat pré-rempli généré automatiquement depuis la conversation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490118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Assistance dans sa langue (Derja/français) au moment le plus stressant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54315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Estimation de dommages par photo, avant même le passage en agence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79476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9502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l'assureur / l'agence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46520" y="43708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Sinistres sous le plafond IDA (2000 DT) éligibles à l'indemnisation directe, traités plus vite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490118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Traitement lourd (CV, fraude) hors du chemin critique via Celery/Redis → service client jamais ralenti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54315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Une seule base de vérité (Postgres partagé) : zéro ressaisie entre mobile, agent et portail agence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Assurance Auto — Dossier technique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023360" cy="402336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463040"/>
            <a:ext cx="3108960" cy="310896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4" name="Image 0" descr="/sessions/stoic-practical-brahmagupta/mnt/outputs/pptx_build/assurex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868" y="1188720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874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ASSUREX · HACKATHON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22860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47091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0" y="5010912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Amine Hechmi   ·   Saoussen Mannai   ·   Ahmed Weslati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Assurance Auto — Dossier technique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2026-07-18T17:40:44Z</dcterms:created>
  <dcterms:modified xsi:type="dcterms:W3CDTF">2026-07-18T17:40:44Z</dcterms:modified>
</cp:coreProperties>
</file>